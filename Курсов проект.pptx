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1" r:id="rId7"/>
    <p:sldId id="269" r:id="rId8"/>
    <p:sldId id="262" r:id="rId9"/>
    <p:sldId id="263" r:id="rId10"/>
    <p:sldId id="265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101CD-871E-4D2B-ABB3-18940D5612CF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933BA-C7AB-4BFC-A1A9-2196A52B6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933BA-C7AB-4BFC-A1A9-2196A52B6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4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933BA-C7AB-4BFC-A1A9-2196A52B6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1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186/wine+qualit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92C865-45A7-E6AA-07B5-F2069D8F5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Курсов проект по „</a:t>
            </a:r>
            <a:r>
              <a:rPr lang="ru-RU" dirty="0" err="1"/>
              <a:t>Невронни</a:t>
            </a:r>
            <a:r>
              <a:rPr lang="ru-RU" dirty="0"/>
              <a:t> мрежи и </a:t>
            </a:r>
            <a:r>
              <a:rPr lang="ru-RU" dirty="0" err="1"/>
              <a:t>генетични</a:t>
            </a:r>
            <a:r>
              <a:rPr lang="ru-RU" dirty="0"/>
              <a:t> </a:t>
            </a:r>
            <a:r>
              <a:rPr lang="ru-RU" dirty="0" err="1"/>
              <a:t>алгоритми</a:t>
            </a:r>
            <a:r>
              <a:rPr lang="bg-BG" dirty="0"/>
              <a:t>“</a:t>
            </a:r>
            <a:endParaRPr lang="en-US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E807D6A9-B805-8D55-D9BF-C545AF4C56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Изготвен от Нели Узунова, ИИ 4</a:t>
            </a:r>
            <a:r>
              <a:rPr lang="en-US" dirty="0"/>
              <a:t>MI</a:t>
            </a:r>
            <a:r>
              <a:rPr lang="bg-BG" dirty="0"/>
              <a:t>3400479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664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8656184-8C3A-357C-DD62-FE63B5F8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Данни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E4834DA-37A9-97B1-6A8F-F2F0CB5EB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Данни за качеството на виното</a:t>
            </a:r>
          </a:p>
          <a:p>
            <a:r>
              <a:rPr lang="en-US" dirty="0">
                <a:hlinkClick r:id="rId2"/>
              </a:rPr>
              <a:t>https://archive.ics.uci.edu/dataset/186/wine+quality</a:t>
            </a:r>
            <a:endParaRPr lang="bg-BG" dirty="0"/>
          </a:p>
          <a:p>
            <a:r>
              <a:rPr lang="bg-BG" dirty="0"/>
              <a:t>1600 инстанции за червено вино</a:t>
            </a:r>
          </a:p>
          <a:p>
            <a:r>
              <a:rPr lang="bg-BG" dirty="0"/>
              <a:t>4898 инстанции за бяло вино</a:t>
            </a:r>
          </a:p>
          <a:p>
            <a:r>
              <a:rPr lang="en-US" dirty="0"/>
              <a:t>Features: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fixed_acidity</a:t>
            </a:r>
            <a:r>
              <a:rPr lang="en-US" dirty="0"/>
              <a:t>, </a:t>
            </a:r>
            <a:r>
              <a:rPr lang="en-US" dirty="0" err="1"/>
              <a:t>volatile_acidity</a:t>
            </a:r>
            <a:r>
              <a:rPr lang="en-US" dirty="0"/>
              <a:t>, </a:t>
            </a:r>
            <a:r>
              <a:rPr lang="en-US" dirty="0" err="1"/>
              <a:t>citric_acid</a:t>
            </a:r>
            <a:r>
              <a:rPr lang="en-US" dirty="0"/>
              <a:t>, </a:t>
            </a:r>
            <a:r>
              <a:rPr lang="en-US" dirty="0" err="1"/>
              <a:t>residual_sugar</a:t>
            </a:r>
            <a:r>
              <a:rPr lang="en-US" dirty="0"/>
              <a:t>, chlorides, </a:t>
            </a:r>
            <a:r>
              <a:rPr lang="en-US" dirty="0" err="1"/>
              <a:t>free_sulfur_dioxide</a:t>
            </a:r>
            <a:r>
              <a:rPr lang="en-US" dirty="0"/>
              <a:t>, </a:t>
            </a:r>
            <a:r>
              <a:rPr lang="en-US" dirty="0" err="1"/>
              <a:t>total_sulfur_dioxide</a:t>
            </a:r>
            <a:r>
              <a:rPr lang="en-US" dirty="0"/>
              <a:t>, density, pH, sulphates, alcohol, quality, color </a:t>
            </a:r>
            <a:endParaRPr lang="bg-BG" dirty="0"/>
          </a:p>
          <a:p>
            <a:r>
              <a:rPr lang="bg-BG" dirty="0"/>
              <a:t>Няма липсващи данни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3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3391DEF4-64E6-9E19-38F3-B5DC4875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22" y="1213116"/>
            <a:ext cx="11202955" cy="443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29F091A-2347-422E-1D13-1643D17C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Задачи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F43DB58-8DC3-F493-14BF-8AD90A879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Класификация на вината според качеството им разделено в 2 категории</a:t>
            </a:r>
          </a:p>
          <a:p>
            <a:endParaRPr lang="bg-BG" sz="2800" dirty="0"/>
          </a:p>
          <a:p>
            <a:r>
              <a:rPr lang="bg-BG" sz="2800" dirty="0"/>
              <a:t>Прогноза на алкохолното съдържание във виното</a:t>
            </a:r>
          </a:p>
          <a:p>
            <a:endParaRPr lang="bg-BG" sz="2800" dirty="0"/>
          </a:p>
          <a:p>
            <a:r>
              <a:rPr lang="bg-BG" sz="2800" dirty="0" err="1"/>
              <a:t>Клъстеризация</a:t>
            </a:r>
            <a:r>
              <a:rPr lang="bg-BG" sz="2800" dirty="0"/>
              <a:t> според цвета на виното</a:t>
            </a:r>
          </a:p>
        </p:txBody>
      </p:sp>
    </p:spTree>
    <p:extLst>
      <p:ext uri="{BB962C8B-B14F-4D97-AF65-F5344CB8AC3E}">
        <p14:creationId xmlns:p14="http://schemas.microsoft.com/office/powerpoint/2010/main" val="401050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83CB498-FBA2-3943-36F7-062E51F8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Техническа среда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05B9B31-8B96-7D79-4664-38FBC4B1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800" dirty="0"/>
              <a:t>Процесор</a:t>
            </a:r>
            <a:r>
              <a:rPr lang="en-US" sz="2800" dirty="0"/>
              <a:t>:  AMD Ryzen 5 5600H with </a:t>
            </a:r>
            <a:br>
              <a:rPr lang="en-US" sz="2800" dirty="0"/>
            </a:br>
            <a:r>
              <a:rPr lang="en-US" sz="2800" dirty="0"/>
              <a:t>Radeon Graphics</a:t>
            </a:r>
          </a:p>
          <a:p>
            <a:r>
              <a:rPr lang="bg-BG" sz="2800" dirty="0"/>
              <a:t>Видео карта</a:t>
            </a:r>
            <a:r>
              <a:rPr lang="en-US" sz="2800" dirty="0"/>
              <a:t>:  Nvidia GeForce RTX 3050</a:t>
            </a:r>
          </a:p>
          <a:p>
            <a:r>
              <a:rPr lang="bg-BG" sz="2800" dirty="0"/>
              <a:t>Памет</a:t>
            </a:r>
            <a:r>
              <a:rPr lang="en-US" sz="2800" dirty="0"/>
              <a:t>:  16.0 GB DDR4</a:t>
            </a:r>
          </a:p>
          <a:p>
            <a:r>
              <a:rPr lang="bg-BG" sz="2800" dirty="0"/>
              <a:t>Твърд диск</a:t>
            </a:r>
            <a:r>
              <a:rPr lang="en-US" sz="2800" dirty="0"/>
              <a:t>:  1TB</a:t>
            </a:r>
          </a:p>
          <a:p>
            <a:r>
              <a:rPr lang="bg-BG" sz="2800" dirty="0"/>
              <a:t>Операционна система</a:t>
            </a:r>
            <a:r>
              <a:rPr lang="en-US" sz="2800" dirty="0"/>
              <a:t>:  Windows 10</a:t>
            </a:r>
          </a:p>
          <a:p>
            <a:r>
              <a:rPr lang="bg-BG" sz="2800" dirty="0"/>
              <a:t>Език за реализация: </a:t>
            </a:r>
            <a:r>
              <a:rPr lang="en-US" sz="2800" dirty="0"/>
              <a:t>Python 3.12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2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25D8F4-355A-FBBF-4FE3-A9F672A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Анализ на данните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7D9A8DC-6339-70DC-AF37-022CF6CA3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70A120FE-B51F-1206-D56F-DA81AC07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738554"/>
            <a:ext cx="7691411" cy="599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2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25D8F4-355A-FBBF-4FE3-A9F672A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Анализ на данните</a:t>
            </a:r>
            <a:endParaRPr lang="en-US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9089B4B-0274-7DFE-9A9E-678CB5879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068" y="514845"/>
            <a:ext cx="67056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647FBF1-40F8-4C73-9A25-DA8DEEC43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142245"/>
          </a:xfrm>
        </p:spPr>
        <p:txBody>
          <a:bodyPr/>
          <a:lstStyle/>
          <a:p>
            <a:r>
              <a:rPr lang="bg-BG" dirty="0"/>
              <a:t>Използвани алгоритми:</a:t>
            </a:r>
          </a:p>
          <a:p>
            <a:pPr lvl="1"/>
            <a:r>
              <a:rPr lang="en-US" dirty="0"/>
              <a:t>Random Forest Classifier</a:t>
            </a:r>
          </a:p>
          <a:p>
            <a:pPr lvl="2"/>
            <a:r>
              <a:rPr lang="en-US" dirty="0"/>
              <a:t>100 </a:t>
            </a:r>
            <a:r>
              <a:rPr lang="bg-BG" dirty="0"/>
              <a:t>дървета</a:t>
            </a: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1157CECE-4B49-6AE3-B584-42B2BE536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438" y="2057908"/>
            <a:ext cx="6573167" cy="523948"/>
          </a:xfrm>
          <a:prstGeom prst="rect">
            <a:avLst/>
          </a:prstGeom>
        </p:spPr>
      </p:pic>
      <p:sp>
        <p:nvSpPr>
          <p:cNvPr id="12" name="Заглавие 1">
            <a:extLst>
              <a:ext uri="{FF2B5EF4-FFF2-40B4-BE49-F238E27FC236}">
                <a16:creationId xmlns:a16="http://schemas.microsoft.com/office/drawing/2014/main" id="{57586D1A-4163-18C3-EF02-AF4817AA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31" y="1123837"/>
            <a:ext cx="3190192" cy="4601183"/>
          </a:xfrm>
        </p:spPr>
        <p:txBody>
          <a:bodyPr/>
          <a:lstStyle/>
          <a:p>
            <a:r>
              <a:rPr lang="bg-BG" sz="3600" dirty="0"/>
              <a:t>Класификация според качеството на виното</a:t>
            </a:r>
            <a:br>
              <a:rPr lang="bg-BG" sz="3600" dirty="0"/>
            </a:br>
            <a:endParaRPr lang="en-US" dirty="0"/>
          </a:p>
        </p:txBody>
      </p:sp>
      <p:sp>
        <p:nvSpPr>
          <p:cNvPr id="13" name="Контейнер за съдържание 2">
            <a:extLst>
              <a:ext uri="{FF2B5EF4-FFF2-40B4-BE49-F238E27FC236}">
                <a16:creationId xmlns:a16="http://schemas.microsoft.com/office/drawing/2014/main" id="{338303D0-0BD5-2473-E59B-0BC7D0E735C4}"/>
              </a:ext>
            </a:extLst>
          </p:cNvPr>
          <p:cNvSpPr txBox="1">
            <a:spLocks/>
          </p:cNvSpPr>
          <p:nvPr/>
        </p:nvSpPr>
        <p:spPr>
          <a:xfrm>
            <a:off x="3869268" y="2858610"/>
            <a:ext cx="7315200" cy="3426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bg-BG" dirty="0"/>
              <a:t>Невронна мрежа</a:t>
            </a:r>
            <a:endParaRPr lang="en-US" dirty="0"/>
          </a:p>
          <a:p>
            <a:pPr lvl="2"/>
            <a:r>
              <a:rPr lang="bg-BG" dirty="0"/>
              <a:t>5 слоя</a:t>
            </a:r>
          </a:p>
          <a:p>
            <a:pPr lvl="2"/>
            <a:endParaRPr lang="bg-BG" dirty="0"/>
          </a:p>
          <a:p>
            <a:pPr lvl="2"/>
            <a:endParaRPr lang="bg-BG" dirty="0"/>
          </a:p>
          <a:p>
            <a:pPr lvl="2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lvl="2"/>
            <a:r>
              <a:rPr lang="bg-BG" dirty="0"/>
              <a:t>400 епохи</a:t>
            </a:r>
          </a:p>
          <a:p>
            <a:pPr lvl="2"/>
            <a:r>
              <a:rPr lang="en-US" dirty="0"/>
              <a:t>Adam </a:t>
            </a:r>
            <a:r>
              <a:rPr lang="bg-BG" dirty="0"/>
              <a:t>оптимизатор</a:t>
            </a:r>
          </a:p>
        </p:txBody>
      </p:sp>
      <p:pic>
        <p:nvPicPr>
          <p:cNvPr id="15" name="Картина 14">
            <a:extLst>
              <a:ext uri="{FF2B5EF4-FFF2-40B4-BE49-F238E27FC236}">
                <a16:creationId xmlns:a16="http://schemas.microsoft.com/office/drawing/2014/main" id="{EC54F57F-44C1-9FF5-3BEF-D42A81DA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00" y="3618566"/>
            <a:ext cx="5108705" cy="1814568"/>
          </a:xfrm>
          <a:prstGeom prst="rect">
            <a:avLst/>
          </a:prstGeom>
        </p:spPr>
      </p:pic>
      <p:pic>
        <p:nvPicPr>
          <p:cNvPr id="17" name="Картина 16">
            <a:extLst>
              <a:ext uri="{FF2B5EF4-FFF2-40B4-BE49-F238E27FC236}">
                <a16:creationId xmlns:a16="http://schemas.microsoft.com/office/drawing/2014/main" id="{B0A1BA00-9D05-6B94-46B1-D9B2D07E9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804" y="3589005"/>
            <a:ext cx="5108705" cy="196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9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7625126-C836-E911-B82D-69644F12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31" y="1123837"/>
            <a:ext cx="3190192" cy="4601183"/>
          </a:xfrm>
        </p:spPr>
        <p:txBody>
          <a:bodyPr/>
          <a:lstStyle/>
          <a:p>
            <a:r>
              <a:rPr lang="bg-BG" sz="3600" dirty="0"/>
              <a:t>Класификация според качеството на виното</a:t>
            </a:r>
            <a:r>
              <a:rPr lang="en-US" sz="3600" dirty="0"/>
              <a:t> - </a:t>
            </a:r>
            <a:r>
              <a:rPr lang="bg-BG" sz="3600" dirty="0"/>
              <a:t>резултати</a:t>
            </a:r>
            <a:br>
              <a:rPr lang="bg-BG" sz="3600" dirty="0"/>
            </a:br>
            <a:endParaRPr lang="en-US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5D3C365-C03A-7051-AC23-9DF6EB22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689" y="5319136"/>
            <a:ext cx="3600953" cy="323895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696679E4-7AF5-6BF5-455B-509DFFCC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689" y="5717628"/>
            <a:ext cx="3629532" cy="276264"/>
          </a:xfrm>
          <a:prstGeom prst="rect">
            <a:avLst/>
          </a:prstGeom>
        </p:spPr>
      </p:pic>
      <p:pic>
        <p:nvPicPr>
          <p:cNvPr id="17" name="Картина 16">
            <a:extLst>
              <a:ext uri="{FF2B5EF4-FFF2-40B4-BE49-F238E27FC236}">
                <a16:creationId xmlns:a16="http://schemas.microsoft.com/office/drawing/2014/main" id="{C284398C-0C4F-906C-D170-E1024AA2A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689" y="638320"/>
            <a:ext cx="5845510" cy="445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6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66B594D-1DF4-9425-3512-E8FECB7F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600" dirty="0"/>
              <a:t>Прогноза на алкохолното съдържание във виното</a:t>
            </a:r>
            <a:br>
              <a:rPr lang="bg-BG" sz="3600" dirty="0"/>
            </a:br>
            <a:endParaRPr lang="en-US" dirty="0"/>
          </a:p>
        </p:txBody>
      </p:sp>
      <p:sp>
        <p:nvSpPr>
          <p:cNvPr id="4" name="Контейнер за съдържание 2">
            <a:extLst>
              <a:ext uri="{FF2B5EF4-FFF2-40B4-BE49-F238E27FC236}">
                <a16:creationId xmlns:a16="http://schemas.microsoft.com/office/drawing/2014/main" id="{ED080B81-7F76-B071-640B-1D13815B7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142245"/>
          </a:xfrm>
        </p:spPr>
        <p:txBody>
          <a:bodyPr/>
          <a:lstStyle/>
          <a:p>
            <a:r>
              <a:rPr lang="bg-BG" dirty="0"/>
              <a:t>Използвани алгоритми:</a:t>
            </a:r>
          </a:p>
          <a:p>
            <a:pPr lvl="1"/>
            <a:r>
              <a:rPr lang="en-US" dirty="0"/>
              <a:t>Linear Regression Classifier</a:t>
            </a:r>
          </a:p>
        </p:txBody>
      </p:sp>
      <p:sp>
        <p:nvSpPr>
          <p:cNvPr id="6" name="Контейнер за съдържание 2">
            <a:extLst>
              <a:ext uri="{FF2B5EF4-FFF2-40B4-BE49-F238E27FC236}">
                <a16:creationId xmlns:a16="http://schemas.microsoft.com/office/drawing/2014/main" id="{421A5774-3BE2-6ECD-FD42-896C2FFA501E}"/>
              </a:ext>
            </a:extLst>
          </p:cNvPr>
          <p:cNvSpPr txBox="1">
            <a:spLocks/>
          </p:cNvSpPr>
          <p:nvPr/>
        </p:nvSpPr>
        <p:spPr>
          <a:xfrm>
            <a:off x="3869268" y="2858610"/>
            <a:ext cx="7315200" cy="3426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bg-BG" dirty="0"/>
              <a:t>Невронна мрежа</a:t>
            </a:r>
            <a:endParaRPr lang="en-US" dirty="0"/>
          </a:p>
          <a:p>
            <a:pPr lvl="2"/>
            <a:r>
              <a:rPr lang="bg-BG" dirty="0"/>
              <a:t>3 слоя</a:t>
            </a:r>
          </a:p>
          <a:p>
            <a:pPr lvl="2"/>
            <a:endParaRPr lang="bg-BG" dirty="0"/>
          </a:p>
          <a:p>
            <a:pPr lvl="2"/>
            <a:endParaRPr lang="bg-BG" dirty="0"/>
          </a:p>
          <a:p>
            <a:pPr lvl="2"/>
            <a:endParaRPr lang="bg-BG" dirty="0"/>
          </a:p>
          <a:p>
            <a:pPr lvl="3"/>
            <a:endParaRPr lang="bg-BG" dirty="0"/>
          </a:p>
          <a:p>
            <a:pPr lvl="3"/>
            <a:endParaRPr lang="bg-BG" dirty="0"/>
          </a:p>
          <a:p>
            <a:pPr marL="1417320" lvl="3" indent="0">
              <a:buNone/>
            </a:pPr>
            <a:endParaRPr lang="bg-BG" dirty="0"/>
          </a:p>
          <a:p>
            <a:pPr lvl="2"/>
            <a:r>
              <a:rPr lang="bg-BG" dirty="0"/>
              <a:t>1000 епохи</a:t>
            </a:r>
          </a:p>
          <a:p>
            <a:pPr lvl="2"/>
            <a:r>
              <a:rPr lang="en-US" dirty="0"/>
              <a:t>Adam </a:t>
            </a:r>
            <a:r>
              <a:rPr lang="bg-BG" dirty="0"/>
              <a:t>оптимизатор</a:t>
            </a:r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EE6D9F5F-F3EA-9D5E-B5D1-81B3EF80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79" y="1928673"/>
            <a:ext cx="8017009" cy="725750"/>
          </a:xfrm>
          <a:prstGeom prst="rect">
            <a:avLst/>
          </a:prstGeom>
        </p:spPr>
      </p:pic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516BEE9F-06F3-E4DC-50E2-98E90A501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84" y="3861031"/>
            <a:ext cx="6392167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66B594D-1DF4-9425-3512-E8FECB7F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600" dirty="0"/>
              <a:t>Прогноза на алкохолното съдържание във виното </a:t>
            </a:r>
            <a:r>
              <a:rPr lang="en-US" sz="3600" dirty="0"/>
              <a:t>- </a:t>
            </a:r>
            <a:r>
              <a:rPr lang="bg-BG" sz="3600" dirty="0"/>
              <a:t>резултати</a:t>
            </a:r>
            <a:br>
              <a:rPr lang="bg-BG" sz="3600" dirty="0"/>
            </a:br>
            <a:endParaRPr lang="en-US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69139033-A475-2E8F-BF8D-11598DA5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5307238"/>
            <a:ext cx="8297433" cy="276264"/>
          </a:xfrm>
          <a:prstGeom prst="rect">
            <a:avLst/>
          </a:prstGeom>
        </p:spPr>
      </p:pic>
      <p:pic>
        <p:nvPicPr>
          <p:cNvPr id="15" name="Картина 14">
            <a:extLst>
              <a:ext uri="{FF2B5EF4-FFF2-40B4-BE49-F238E27FC236}">
                <a16:creationId xmlns:a16="http://schemas.microsoft.com/office/drawing/2014/main" id="{12B117F2-7EB1-B5EF-7020-C3DB28D6A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503" y="885392"/>
            <a:ext cx="6081171" cy="3931841"/>
          </a:xfrm>
          <a:prstGeom prst="rect">
            <a:avLst/>
          </a:prstGeom>
        </p:spPr>
      </p:pic>
      <p:pic>
        <p:nvPicPr>
          <p:cNvPr id="17" name="Картина 16">
            <a:extLst>
              <a:ext uri="{FF2B5EF4-FFF2-40B4-BE49-F238E27FC236}">
                <a16:creationId xmlns:a16="http://schemas.microsoft.com/office/drawing/2014/main" id="{3DBBED91-447C-54F0-C610-637BC9037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63" y="885392"/>
            <a:ext cx="6480249" cy="4176843"/>
          </a:xfrm>
          <a:prstGeom prst="rect">
            <a:avLst/>
          </a:prstGeom>
        </p:spPr>
      </p:pic>
      <p:pic>
        <p:nvPicPr>
          <p:cNvPr id="19" name="Картина 18">
            <a:extLst>
              <a:ext uri="{FF2B5EF4-FFF2-40B4-BE49-F238E27FC236}">
                <a16:creationId xmlns:a16="http://schemas.microsoft.com/office/drawing/2014/main" id="{37CC6581-A9FA-BBF1-0B50-DE00AF67D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68" y="5759381"/>
            <a:ext cx="6597506" cy="2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47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730E451-745B-938D-88F0-AEBB46FE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12" y="1128408"/>
            <a:ext cx="3129474" cy="4601183"/>
          </a:xfrm>
        </p:spPr>
        <p:txBody>
          <a:bodyPr/>
          <a:lstStyle/>
          <a:p>
            <a:r>
              <a:rPr lang="bg-BG" sz="3600" dirty="0" err="1"/>
              <a:t>Клъстеризация</a:t>
            </a:r>
            <a:r>
              <a:rPr lang="bg-BG" sz="3600" dirty="0"/>
              <a:t> според цвета на виното</a:t>
            </a:r>
            <a:br>
              <a:rPr lang="bg-BG" sz="3600" dirty="0"/>
            </a:b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7FB3155-AB5C-1EE0-4D22-91EFC491D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899820"/>
            <a:ext cx="7315200" cy="4084927"/>
          </a:xfrm>
        </p:spPr>
        <p:txBody>
          <a:bodyPr/>
          <a:lstStyle/>
          <a:p>
            <a:r>
              <a:rPr lang="bg-BG" sz="2400" dirty="0"/>
              <a:t>Да се </a:t>
            </a:r>
            <a:r>
              <a:rPr lang="bg-BG" sz="2400" dirty="0" err="1"/>
              <a:t>клъстеризират</a:t>
            </a:r>
            <a:r>
              <a:rPr lang="bg-BG" sz="2400" dirty="0"/>
              <a:t> вината на бяло и червено вино на базата на всички </a:t>
            </a:r>
            <a:r>
              <a:rPr lang="en-US" sz="2400" dirty="0"/>
              <a:t>features</a:t>
            </a:r>
            <a:br>
              <a:rPr lang="en-US" sz="2400" dirty="0"/>
            </a:br>
            <a:endParaRPr lang="bg-BG" sz="2400" dirty="0"/>
          </a:p>
          <a:p>
            <a:r>
              <a:rPr lang="bg-BG" sz="2400" dirty="0"/>
              <a:t>Използвани алгоритми:</a:t>
            </a:r>
            <a:endParaRPr lang="en-US" sz="2400" dirty="0"/>
          </a:p>
          <a:p>
            <a:pPr lvl="1"/>
            <a:r>
              <a:rPr lang="en-US" sz="2000" dirty="0"/>
              <a:t>K-means </a:t>
            </a:r>
            <a:r>
              <a:rPr lang="bg-BG" sz="2000" dirty="0"/>
              <a:t>с 2 клъстера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endParaRPr lang="en-US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EF589C37-48F6-9BBB-4314-07034E336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75" y="4270027"/>
            <a:ext cx="4953691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59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730E451-745B-938D-88F0-AEBB46FE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8" y="1123837"/>
            <a:ext cx="3191799" cy="4601183"/>
          </a:xfrm>
        </p:spPr>
        <p:txBody>
          <a:bodyPr/>
          <a:lstStyle/>
          <a:p>
            <a:r>
              <a:rPr lang="bg-BG" sz="3600" dirty="0" err="1"/>
              <a:t>Клъстеризация</a:t>
            </a:r>
            <a:r>
              <a:rPr lang="bg-BG" sz="3600" dirty="0"/>
              <a:t> според цвета на виното </a:t>
            </a:r>
            <a:r>
              <a:rPr lang="en-US" sz="3600" dirty="0"/>
              <a:t>- </a:t>
            </a:r>
            <a:r>
              <a:rPr lang="bg-BG" sz="3600" dirty="0"/>
              <a:t>резултат</a:t>
            </a:r>
            <a:br>
              <a:rPr lang="bg-BG" sz="3600" dirty="0"/>
            </a:br>
            <a:endParaRPr lang="en-US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BC60295A-90D6-4FB8-AF52-964B124EC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452" y="1123837"/>
            <a:ext cx="6813636" cy="436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07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92C865-45A7-E6AA-07B5-F2069D8F5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7" y="1298448"/>
            <a:ext cx="8262995" cy="3255264"/>
          </a:xfrm>
        </p:spPr>
        <p:txBody>
          <a:bodyPr>
            <a:normAutofit/>
          </a:bodyPr>
          <a:lstStyle/>
          <a:p>
            <a:r>
              <a:rPr lang="bg-BG" dirty="0"/>
              <a:t>Благодаря за вниманието!</a:t>
            </a:r>
            <a:endParaRPr lang="en-US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E807D6A9-B805-8D55-D9BF-C545AF4C56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Нели Узунова, ИИ 4</a:t>
            </a:r>
            <a:r>
              <a:rPr lang="en-US" dirty="0"/>
              <a:t>MI</a:t>
            </a:r>
            <a:r>
              <a:rPr lang="bg-BG" dirty="0"/>
              <a:t>3400479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89321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2122</TotalTime>
  <Words>276</Words>
  <Application>Microsoft Office PowerPoint</Application>
  <PresentationFormat>Широк екран</PresentationFormat>
  <Paragraphs>69</Paragraphs>
  <Slides>14</Slides>
  <Notes>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8" baseType="lpstr">
      <vt:lpstr>Calibri</vt:lpstr>
      <vt:lpstr>Corbel</vt:lpstr>
      <vt:lpstr>Wingdings 2</vt:lpstr>
      <vt:lpstr>Рамка</vt:lpstr>
      <vt:lpstr>Курсов проект по „Невронни мрежи и генетични алгоритми“</vt:lpstr>
      <vt:lpstr>Данни</vt:lpstr>
      <vt:lpstr>Презентация на PowerPoint</vt:lpstr>
      <vt:lpstr>Задачи</vt:lpstr>
      <vt:lpstr>Техническа среда</vt:lpstr>
      <vt:lpstr>Анализ на данните</vt:lpstr>
      <vt:lpstr>Анализ на данните</vt:lpstr>
      <vt:lpstr>Класификация според качеството на виното </vt:lpstr>
      <vt:lpstr>Класификация според качеството на виното - резултати </vt:lpstr>
      <vt:lpstr>Прогноза на алкохолното съдържание във виното </vt:lpstr>
      <vt:lpstr>Прогноза на алкохолното съдържание във виното - резултати </vt:lpstr>
      <vt:lpstr>Клъстеризация според цвета на виното </vt:lpstr>
      <vt:lpstr>Клъстеризация според цвета на виното - резултат 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Neli Uzunova</dc:creator>
  <cp:lastModifiedBy>Neli Uzunova</cp:lastModifiedBy>
  <cp:revision>35</cp:revision>
  <dcterms:created xsi:type="dcterms:W3CDTF">2024-07-02T20:50:04Z</dcterms:created>
  <dcterms:modified xsi:type="dcterms:W3CDTF">2024-07-04T08:17:55Z</dcterms:modified>
</cp:coreProperties>
</file>